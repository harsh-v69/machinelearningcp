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4FC8"/>
                </a:solidFill>
                <a:latin typeface="Calibri"/>
              </a:rPr>
              <a:t>CP PROJECT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A1A1A"/>
                </a:solidFill>
                <a:latin typeface="Calibri"/>
              </a:rPr>
              <a:t>Adaptive Graph Validation and Solver Selection for Plan-Graph Planning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5A5A5A"/>
                </a:solidFill>
                <a:latin typeface="Calibri"/>
              </a:rPr>
              <a:t>An LLM-free extension of TAPE (Tool-Guided Adaptive Planning and Constrained Execution)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A1A1A"/>
                </a:solidFill>
                <a:latin typeface="Calibri"/>
              </a:rPr>
              <a:t>Subject: Machine Learning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Guide: Dr. Premanand P Ghadekar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Group 3, Year 3, Semester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931920"/>
            <a:ext cx="5120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A1A1A"/>
                </a:solidFill>
                <a:latin typeface="Calibri"/>
              </a:rPr>
              <a:t>Group members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Divyanshu Gajbhiye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Vidhi Hadoltikar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Harshvardhan Rawat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Nirmit Hatti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Introduction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Long-horizon planning is hard for language-model agents: a single plan often fails midway.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TAPE (Jeong et al., 2026) generates several candidate plans, merges them into one plan graph, picks a path with an external solver (ILP), executes it, and replans when reality differs.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A plan graph is only as good as the plans behind it, and the solver is fixed in advance.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Our project adds a checking and selection layer on top of the TAPE pipeline: validate moves, learn from failures, score moves, and choose the solver per task.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Tested on seven games: Sokoban, River Crossing, Rush Hour, Peg Solitaire, the 24-puzzle, the Rubik's cube and 3,000 Boxoban levels.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Motivation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371600"/>
            <a:ext cx="5577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Nothing in TAPE checks a proposed move against the real rules before it is trusted.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Errors are found only after execution, as a mismatch.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One solver is used for every task, whether or not it is needed.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Past failures are forgotten between episodes.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F4FC8"/>
                </a:solidFill>
                <a:latin typeface="Calibri"/>
              </a:rPr>
              <a:t>What goes wrong without a checker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92024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River Crossing: a plan can reach the goal while breaking the safety rule on the way.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Sokoban: a box pushed into a corner can never be recovered.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Rush Hour: two blocked vehicles can seal a row.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Our measurements show the plain pipeline reaching the River Crossing goal every time, but never safely.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Literature Survey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25880"/>
          <a:ext cx="1106424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97680"/>
                <a:gridCol w="347472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Work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Idea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Gap for our project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ReAct (Yao et al., 2022)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Interleave reasoning and actions with an environment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No plan-level check before acting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Tree of Thoughts (Yao et al., 2023)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Search over a tree of reasoning steps with backtracking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Tree, not a merged graph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Graph of Thoughts (Besta et al., 2023)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Thoughts as a graph; paths merge and reuse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No environment-rule 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Reflexion (Shinn et al., 2023)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Learn from failures through verbal feedback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Feedback is text, not a per-move confidence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Plan-and-Solve, ReWOO (2023)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Separate planning from execution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Single plan, no solver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TAPE (Jeong et al., 2026)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Plan graph, external solver, constrained execution, replanning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Unchecked graph; fixed solver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A* (Hart et al., 1968)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Heuristic shortest-path search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Used here as the alternative selector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Sokoban / Rush Hour complexity (Culberson 1997; Flake and Baum 2002)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Both puzzles are PSPACE-complete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Hard, structured test beds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Objectives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Reproduce the core TAPE pipeline as a baseline: plans, plan graph, solver, constrained execution, replanning.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Validate states and transitions against environment rules before trusting them: reject the impossible, downweight the uncertain.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Use execution feedback to raise or lower confidence in later episodes.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Define a dynamic score for each move from goal progress, confidence and remaining budget.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Choose between A* and a constraint solver per task instead of always using one.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Compare every extension with the baseline through controlled experiments and ablations.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Project Flow Diagram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274320" y="2286000"/>
            <a:ext cx="1463040" cy="1097280"/>
          </a:xfrm>
          <a:prstGeom prst="roundRect">
            <a:avLst/>
          </a:prstGeom>
          <a:solidFill>
            <a:srgbClr val="EEEEEE"/>
          </a:solidFill>
          <a:ln w="19050">
            <a:solidFill>
              <a:srgbClr val="1F4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Environment</a:t>
            </a:r>
          </a:p>
          <a:p>
            <a:pPr algn="ctr"/>
            <a:r>
              <a:rPr sz="1000">
                <a:solidFill>
                  <a:srgbClr val="5A5A5A"/>
                </a:solidFill>
                <a:latin typeface="Calibri"/>
              </a:rPr>
              <a:t>state and rules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03120" y="2286000"/>
            <a:ext cx="1463040" cy="1097280"/>
          </a:xfrm>
          <a:prstGeom prst="roundRect">
            <a:avLst/>
          </a:prstGeom>
          <a:solidFill>
            <a:srgbClr val="F2F5FC"/>
          </a:solidFill>
          <a:ln w="19050">
            <a:solidFill>
              <a:srgbClr val="1F4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Propose</a:t>
            </a:r>
          </a:p>
          <a:p>
            <a:pPr algn="ctr"/>
            <a:r>
              <a:rPr sz="1100">
                <a:solidFill>
                  <a:srgbClr val="5A5A5A"/>
                </a:solidFill>
                <a:latin typeface="Calibri"/>
              </a:rPr>
              <a:t>candidate plans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737360" y="2834640"/>
            <a:ext cx="365760" cy="0"/>
          </a:xfrm>
          <a:prstGeom prst="line">
            <a:avLst/>
          </a:prstGeom>
          <a:ln w="2540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794760" y="2286000"/>
            <a:ext cx="1463040" cy="1097280"/>
          </a:xfrm>
          <a:prstGeom prst="roundRect">
            <a:avLst/>
          </a:prstGeom>
          <a:solidFill>
            <a:srgbClr val="F2F5FC"/>
          </a:solidFill>
          <a:ln w="19050">
            <a:solidFill>
              <a:srgbClr val="1F4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Merge</a:t>
            </a:r>
          </a:p>
          <a:p>
            <a:pPr algn="ctr"/>
            <a:r>
              <a:rPr sz="1100">
                <a:solidFill>
                  <a:srgbClr val="5A5A5A"/>
                </a:solidFill>
                <a:latin typeface="Calibri"/>
              </a:rPr>
              <a:t>plan graph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66160" y="2834640"/>
            <a:ext cx="228600" cy="0"/>
          </a:xfrm>
          <a:prstGeom prst="line">
            <a:avLst/>
          </a:prstGeom>
          <a:ln w="2540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486400" y="2286000"/>
            <a:ext cx="1463040" cy="1097280"/>
          </a:xfrm>
          <a:prstGeom prst="roundRect">
            <a:avLst/>
          </a:prstGeom>
          <a:solidFill>
            <a:srgbClr val="F2F5FC"/>
          </a:solidFill>
          <a:ln w="19050">
            <a:solidFill>
              <a:srgbClr val="1F4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Check</a:t>
            </a:r>
          </a:p>
          <a:p>
            <a:pPr algn="ctr"/>
            <a:r>
              <a:rPr sz="1100">
                <a:solidFill>
                  <a:srgbClr val="5A5A5A"/>
                </a:solidFill>
                <a:latin typeface="Calibri"/>
              </a:rPr>
              <a:t>validator + memory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257800" y="2834640"/>
            <a:ext cx="228600" cy="0"/>
          </a:xfrm>
          <a:prstGeom prst="line">
            <a:avLst/>
          </a:prstGeom>
          <a:ln w="2540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178040" y="2286000"/>
            <a:ext cx="1463040" cy="1097280"/>
          </a:xfrm>
          <a:prstGeom prst="roundRect">
            <a:avLst/>
          </a:prstGeom>
          <a:solidFill>
            <a:srgbClr val="F2F5FC"/>
          </a:solidFill>
          <a:ln w="19050">
            <a:solidFill>
              <a:srgbClr val="1F4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Choose</a:t>
            </a:r>
          </a:p>
          <a:p>
            <a:pPr algn="ctr"/>
            <a:r>
              <a:rPr sz="1100">
                <a:solidFill>
                  <a:srgbClr val="5A5A5A"/>
                </a:solidFill>
                <a:latin typeface="Calibri"/>
              </a:rPr>
              <a:t>score + A* / CP-SAT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49440" y="2834640"/>
            <a:ext cx="228600" cy="0"/>
          </a:xfrm>
          <a:prstGeom prst="line">
            <a:avLst/>
          </a:prstGeom>
          <a:ln w="2540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869680" y="2286000"/>
            <a:ext cx="1463040" cy="1097280"/>
          </a:xfrm>
          <a:prstGeom prst="roundRect">
            <a:avLst/>
          </a:prstGeom>
          <a:solidFill>
            <a:srgbClr val="F2F5FC"/>
          </a:solidFill>
          <a:ln w="19050">
            <a:solidFill>
              <a:srgbClr val="1F4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Run</a:t>
            </a:r>
          </a:p>
          <a:p>
            <a:pPr algn="ctr"/>
            <a:r>
              <a:rPr sz="1100">
                <a:solidFill>
                  <a:srgbClr val="5A5A5A"/>
                </a:solidFill>
                <a:latin typeface="Calibri"/>
              </a:rPr>
              <a:t>execute path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41080" y="2834640"/>
            <a:ext cx="228600" cy="0"/>
          </a:xfrm>
          <a:prstGeom prst="line">
            <a:avLst/>
          </a:prstGeom>
          <a:ln w="2540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332719" y="2834640"/>
            <a:ext cx="228600" cy="0"/>
          </a:xfrm>
          <a:prstGeom prst="line">
            <a:avLst/>
          </a:prstGeom>
          <a:ln w="2540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561319" y="2286000"/>
            <a:ext cx="1188720" cy="1097280"/>
          </a:xfrm>
          <a:prstGeom prst="roundRect">
            <a:avLst/>
          </a:prstGeom>
          <a:solidFill>
            <a:srgbClr val="EEEEEE"/>
          </a:solidFill>
          <a:ln w="19050">
            <a:solidFill>
              <a:srgbClr val="1F4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Validated path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601200" y="3383280"/>
            <a:ext cx="0" cy="82296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2834639" y="4206240"/>
            <a:ext cx="6766561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834639" y="3383280"/>
            <a:ext cx="0" cy="822960"/>
          </a:xfrm>
          <a:prstGeom prst="line">
            <a:avLst/>
          </a:prstGeom>
          <a:ln w="2540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108959" y="42976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Mismatch: record the failure, replan from the real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21208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Phase 1: Propose, Merge, Run.  Phase 2 and 3: Check (rules, then memory of past failures).  Phase 4 and 5: Choose (move score, then A* or CP-SAT).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Proposers are synthetic programs; no language model is used. Seven games share this pipeline unchanged.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Algorithm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325880"/>
            <a:ext cx="67665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onsolas"/>
              </a:rPr>
              <a:t>for each episode, from the current real state: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onsolas"/>
              </a:rPr>
              <a:t>  plans  = proposer(state)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onsolas"/>
              </a:rPr>
              <a:t>  graph  = merge(plans)       # equal states share a node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onsolas"/>
              </a:rPr>
              <a:t>  for each move in graph: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onsolas"/>
              </a:rPr>
              <a:t>      v    = validator(state, move)   # reject | accept(conf)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onsolas"/>
              </a:rPr>
              <a:t>      conf = v.conf * experience(state, move)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onsolas"/>
              </a:rPr>
              <a:t>      cost = score(progress, conf, budget)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onsolas"/>
              </a:rPr>
              <a:t>  path = A* if one piece moves else CP-SAT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onsolas"/>
              </a:rPr>
              <a:t>  execute(path)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onsolas"/>
              </a:rPr>
              <a:t>  on mismatch: record failure, replan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3258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F4FC8"/>
                </a:solidFill>
                <a:latin typeface="Calibri"/>
              </a:rPr>
              <a:t>Key formulas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182880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Move cost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cost = step + 1.5 x regression + 4.0 x (1 - confidence) + 2.0 x (steps used / budget)^2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Experience confidence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(successes + 1) / (successes + failures + 2)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Solver rule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one movable piece: A*; several pieces: CP-SAT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Games and Benchmarks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1155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One interface, seven games, each with its own rule checker.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1106424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383280"/>
                <a:gridCol w="3108960"/>
                <a:gridCol w="2103120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Game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Size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Checker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Proposer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Sokoban (4 levels)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Up to 3 boxes, PSPACE-complete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Dead corner rule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BFS plus noisy walks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River Crossing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3 pairs, 11-move optimum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Outnumbered rule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BFS plus noisy walks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Rush Hour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6 by 6 board, PSPACE-complete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Row gridlock rule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BFS plus noisy walks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Boxoban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3,000 real levels, 4 boxes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Dead corner rule (prunes search)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Weighted A*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Peg Solitaire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About 3.6 million reachable positions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Pagoda bound (proof)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Weighted A*, DFS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24-puzzle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About 7.8 x 10^24 states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Parity rule (guards the start)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Weighted A*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Rubik's cube 3x3x3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About 4.3 x 10^19 states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Cubie invariants (guards the start)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Meet in the middle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6072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No language model is used anywhere. Proposers are programs: noisy walks, weighted A*, DFS, or a meet in the middle search.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Coding Progress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1155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Target for this review: 40%. Completed: all five pipeline phases, the evaluation experiments and an interactive demo.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1106424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6675120"/>
                <a:gridCol w="1645920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was coded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  TAPE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Environment interface, plan graph, CP-SAT solver, constrained execution, replanning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2  Graph validation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Rule checkers for every game: corners, safety, gridlock, pagoda bound, parity, cubie invariants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3  Self-improving graph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SQLite experience store with smoothed confidence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4  Dynamic score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Per-move cost from progress, confidence and budget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5  Adaptive selection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A* and CP-SAT, chosen by task complexity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6  Evaluation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Ablation, memory, tuning, proposer sweep, Boxoban, three harder games, search methods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Core done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486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About 2,300 lines in src/tape, 1,500 in experiments, 1,000 in tests. 90 automated tests pass. Interactive 3D demo with a tab per game. Code: github.com/Harsh-v69/MachineLearningCP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Coding: Key Components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325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4FC8"/>
                </a:solidFill>
                <a:latin typeface="Calibri"/>
              </a:rPr>
              <a:t>Validator, Sokoban (simplified)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Consolas"/>
              </a:rPr>
              <a:t>for box in moved_boxes: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Consolas"/>
              </a:rPr>
              <a:t>    if box in goals: continue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Consolas"/>
              </a:rPr>
              <a:t>    if is_corner(box):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Consolas"/>
              </a:rPr>
              <a:t>        return reject("corner deadlock")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Consolas"/>
              </a:rPr>
              <a:t>    if against_wall(box):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Consolas"/>
              </a:rPr>
              <a:t>        return accept(conf=0.5)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Consolas"/>
              </a:rPr>
              <a:t>return accept(conf=1.0)</a:t>
            </a:r>
          </a:p>
          <a:p>
            <a:pPr>
              <a:spcAft>
                <a:spcPts val="600"/>
              </a:spcAft>
            </a:pPr>
            <a:r>
              <a:rPr sz="800" b="0">
                <a:solidFill>
                  <a:srgbClr val="1A1A1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Rejected moves never enter the plan graph. Doubtful moves stay in, but cost more.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258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4FC8"/>
                </a:solidFill>
                <a:latin typeface="Calibri"/>
              </a:rPr>
              <a:t>Adaptive solver choice (simplified)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78308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Consolas"/>
              </a:rPr>
              <a:t>def decide_method(level, graph):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Consolas"/>
              </a:rPr>
              <a:t>    if level.complexity(graph.start) &gt; 1: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Consolas"/>
              </a:rPr>
              <a:t>        return CP_SAT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Consolas"/>
              </a:rPr>
              <a:t>    return ASTAR</a:t>
            </a:r>
          </a:p>
          <a:p>
            <a:pPr>
              <a:spcAft>
                <a:spcPts val="600"/>
              </a:spcAft>
            </a:pPr>
            <a:r>
              <a:rPr sz="800" b="0">
                <a:solidFill>
                  <a:srgbClr val="1A1A1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Every game implements one interface: ACTIONS, step, is_goal, heuristic, complexity, render. A new game plugs in without touching the pipeline.</a:t>
            </a:r>
          </a:p>
          <a:p>
            <a:pPr>
              <a:spcAft>
                <a:spcPts val="600"/>
              </a:spcAft>
            </a:pPr>
            <a:r>
              <a:rPr sz="800" b="0">
                <a:solidFill>
                  <a:srgbClr val="1A1A1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Seven games: Sokoban, River Crossing, Rush Hour, Peg Solitaire, 24-puzzle, Rubik's cube, and 3,000 Boxoban levels.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Interactive Demo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1155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A browser walkthrough, generated from live runs of the project 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669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•  One tab per game: Sokoban, River Crossing, Rush Hour, Boxoban, Peg Solitaire, 24-puzzle, Rubik's cube.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•  Every board is 3D and draggable: sliding crates, jumping marbles, sliding tiles, a turning cube.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•  Five steps per game: Propose, Merge, Check, Choose, Run.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•  Light and dark theme, and a project map on the first page.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7373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F4FC8"/>
                </a:solidFill>
                <a:latin typeface="Calibri"/>
              </a:rPr>
              <a:t>Try it yourself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2860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•  Check: switch the rule checker on and off and watch the bad plan.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•  Choose: A* and CP-SAT timed on the same graph.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•  Randomize: scramble the Rubik's cube or the 24-puzzle and watch it solve itself, in the browser.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•  Run: a slip, or a wrong move (next slide).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•  Results: every chart is read from the experiment files.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Failure Handling: Slip vs Wrong Move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1155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A slip means nothing happened. A wrong move means a different legal move happened. The demo shows the worst one found for each game.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064240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468880"/>
                <a:gridCol w="1188720"/>
                <a:gridCol w="5486400"/>
              </a:tblGrid>
              <a:tr h="51206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Game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happens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Sokoban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L planned, U happens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Dead 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No plan exists. Search proves it in 120 nodes (72 with the checker)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River Crossing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2C planned, 2M happens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Lost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Checker flags the position at once; an unchecked planner plans on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Rush Hour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B+ planned, B- happens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Detour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Still solvable: 6 moves to go, was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Peg Solitaire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32U planned, 33L happens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Dead end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No plan exists. Search proves it in 38,920 nodes (16,978 with the checker)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24-puzzle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 planned, U happens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Detour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Still solvable: 14 moves to go, was 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Rubik's cube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 planned, U happens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Detour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Still solvable: 4 moves to go, was 2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6235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Lost: the checker flags it. Dead end: the checker's rules miss it, but a full search shows no plan exists. Detour: still solvable, only longer.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Results and Discussion: Safety and Speed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1155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Ablation, 30 episodes per cell, 15% slip, synthetic proposer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53035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River Crossing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Safe success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Baseline (no checker)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With validator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Goal reached,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100% (unsafely)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0" y="1737360"/>
          <a:ext cx="53949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554480"/>
                <a:gridCol w="13716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Planning time (ms)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Always CP-SAT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Adaptive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Sokoban, 1 box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7.6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River Crossing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62.1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3.6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Sokoban, 2 boxes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99.9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96.4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Rush Hour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36.2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36.1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20624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Safe success means the goal was reached and no move broke a rule, judged by an independent auditor.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The validator turns unsafe successes into safe ones. The adaptive solver saves time where one piece moves and ties elsewhere.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Hard Sokoban stays near 53% in every configuration: our extensions do not change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Results and Discussion: Boxoban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1155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Share of 1,000 real levels per set solved within a node budget: no pruning vs with checker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8308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Nodes per search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Unfiltered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Hard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57% vs 65%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14% vs 23%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6% vs 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73% vs 82%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29% vs 45%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16% vs 29%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84% vs 92%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46% vs 65%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27% vs 49%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20,000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92% vs 96%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61% vs 82%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44% vs 70%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30,000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95% vs 98%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71% vs 88%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54% vs 82%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5488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The checker wins in all 15 cells, with non-overlapping 95% intervals. It never missed a level the other search solved.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It also expands 20% to 25% fewer nodes. Pruning dead corners is standard in Sokoban solvers; this shows our checker works as one on real levels.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Results and Discussion: Harder Games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1155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Peg Solitaire, 24-puzzle and Rubik's cube. 60 instances per row, 30 for the cube.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  <a:gridCol w="2743200"/>
                <a:gridCol w="3017520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Jumps from the goal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Solved, no checker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Solved, pagoda checker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Mean nodes, no checker / checker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296 / 237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2,776 / 1,914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93%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98%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13,780 / 9,663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75%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39,170 / 31,817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023360"/>
            <a:ext cx="110642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Peg Solitaire: the pagoda bound proves positions lost. From the real start it cuts the search from 139,048 to 82,009 nodes.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24-puzzle and cube: the checker only guards the start. On an unsolvable start the plain search spends its whole budget (60,000 and 400,000 nodes), the check uses at most 1.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Weighted A* solves 100%, 95%, 73% and 57% of 24-puzzle scrambles of 20, 40, 60 and 80 moves. Meet in the middle solves every cube scramble of 4 to 8 moves.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Results and Discussion: Other Search Methods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1155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Do BFS, DFS and A* variants help? Share solved within 100,000 nodes, with mean nodes in brackets.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110642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920240"/>
                <a:gridCol w="2103120"/>
                <a:gridCol w="2011680"/>
                <a:gridCol w="2011680"/>
              </a:tblGrid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Game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BFS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DFS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Weighted A*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Meet in the middle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River Crossing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100% (28)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100% (19)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100% (26)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Rush Hour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100% (20)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100% (18)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100% (12)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Peg Solitaire, real start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100% (10,845)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Boxoban, 20 levels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45% (41,347)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55% (37,835)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55% (24,368)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24-puzzle, 20 moves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100% (413)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100% (18,453)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Rubik's cube, 6 moves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15% (11,676)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100% (392)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100% (5,544)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54880"/>
            <a:ext cx="11064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DFS helps in one game: Peg Solitaire, where every solution is 31 jumps. BFS suffices only on the tiny games.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Weighted A* is the best general choice. AO* does not apply: every game is deterministic, so it reduces to A*.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Results and Discussion: Memory, Tuning, Limits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58521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56032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Experience store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Change in replans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Sokoban, 1 box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-0.56 +/- 0.18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River Crossing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-0.54 +/- 0.15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Rush Hour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-0.17 +/- 0.11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Sokoban, 2 boxes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+0.06 +/- 0.03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840480"/>
            <a:ext cx="5852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Memory helps when failures depend on the state and the candidates contain a detour. Negative is better.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3716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F4FC8"/>
                </a:solidFill>
                <a:latin typeface="Calibri"/>
              </a:rPr>
              <a:t>What the data does not show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92024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Proposers are synthetic: no language model was used.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A checker filters plans; it cannot invent one.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Tuning the cost weights (80-point grid, held-out check) found nothing better than the defaults.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Merging plans did not shorten paths: cost, not move count, is minimized.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With a decent proposer, goal-reach rate barely changes; the value is safety and fewer wasted replans.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Harder games: scrambles are random walks, and the cube is tested only to 8 moves.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Conclusion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37160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We built a checking and selection layer on the TAPE pipeline and tested it on seven games, with no language model.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Rule checking makes plans safe (River Crossing 0% to 100% safe) and makes search solve more real levels (Boxoban, up to 28 points).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Choosing A* or CP-SAT per task cuts planning time where one piece moves.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Remembering failures reduces replans, but only when failures are state-dependent.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On the harder games the checker prunes Peg Solitaire and guards unsolvable starts. DFS helps only Peg Solitaire; AO* does not apply.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F4FC8"/>
                </a:solidFill>
                <a:latin typeface="Calibri"/>
              </a:rP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A learned, non-LLM proposer with realistic errors; more Boxoban files and a second checker rule.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Finish the research paper (full draft written, with figures). Add a learned proposer to the demo's failure scenarios.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References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280160"/>
            <a:ext cx="55778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[1] J. Jeong, J. Kim, K. Lee, "TAPE: Tool-Guided Adaptive Planning and Constrained Execution in Language Model Agents," arXiv:2602.19633, 2026.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[2] S. Yao et al., "ReAct: Synergizing Reasoning and Acting in Language Models," arXiv:2210.03629, 2022.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[3] S. Yao et al., "Tree of Thoughts: Deliberate Problem Solving with Large Language Models," arXiv:2305.10601, 2023.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[4] M. Besta et al., "Graph of Thoughts: Solving Elaborate Problems with Large Language Models," arXiv:2308.09687, 2023.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[5] N. Shinn et al., "Reflexion: Language Agents with Verbal Reinforcement Learning," arXiv:2303.11366, 2023.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[6] T. Schick et al., "Toolformer: Language Models Can Teach Themselves to Use Tools," arXiv:2302.04761, 2023.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[7] J. Wei et al., "Chain-of-Thought Prompting Elicits Reasoning in Large Language Models," arXiv:2201.11903, 2022.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[8] L. Wang et al., "Plan-and-Solve Prompting," arXiv:2305.04091, 2023.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[9] B. Xu et al., "ReWOO: Decoupling Reasoning from Observations for Efficient Augmented Language Models," arXiv:2305.18323, 2023.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[10] M. Shridhar et al., "ALFWorld: Aligning Text and Embodied Environments for Interactive Learning," arXiv:2010.03768, 2020.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[11] H. Trivedi et al., "MuSiQue: Multihop Questions via Single-hop Question Composition," arXiv:2108.00573, 2021.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280160"/>
            <a:ext cx="53949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[12] K. Cobbe et al., "Training Verifiers to Solve Math Word Problems," arXiv:2110.14168, 2021.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[13] P. Hart, N. Nilsson, B. Raphael, "A Formal Basis for the Heuristic Determination of Minimum Cost Paths," IEEE Trans. Systems Science and Cybernetics, 1968.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[14] J. Culberson, "Sokoban is PSPACE-complete," Tech. Rep. TR97-02, Univ. of Alberta, 1997.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[15] G. W. Flake, E. B. Baum, "Rush Hour is PSPACE-complete," Theoretical Computer Science 270(1-2):895-911, 2002.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[16] DeepMind, "Boxoban levels," github.com/google-deepmind/boxoban-levels.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[17] L. Perron, V. Furnon, "OR-Tools," Google, developers.google.com/optimization.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[18] I. Pohl, "Heuristic search viewed as path finding in a graph," Artificial Intelligence 1(3-4):193-204, 1970.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[19] R. E. Korf, "Depth-first iterative-deepening," Artificial Intelligence 27(1):97-109, 1985.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[20] T. Rokicki et al., "The diameter of the Rubik's Cube group is twenty," SIAM J. Discrete Math. 27(2):1082-1105, 2013.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[21] E. A. Hansen, S. Zilberstein, "LAO*: A heuristic search algorithm that finds solutions with loops," Artificial Intelligence 129(1-2):35-62, 2001.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